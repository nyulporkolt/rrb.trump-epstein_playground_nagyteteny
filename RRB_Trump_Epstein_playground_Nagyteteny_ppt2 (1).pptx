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980" autoAdjust="0"/>
    <p:restoredTop sz="94660"/>
  </p:normalViewPr>
  <p:slideViewPr>
    <p:cSldViewPr snapToGrid="0">
      <p:cViewPr varScale="1">
        <p:scale>
          <a:sx n="114" d="100"/>
          <a:sy n="114" d="100"/>
        </p:scale>
        <p:origin x="360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-16934" y="0"/>
            <a:ext cx="12231160" cy="6856214"/>
            <a:chOff x="-16934" y="0"/>
            <a:chExt cx="12231160" cy="6856214"/>
          </a:xfrm>
        </p:grpSpPr>
        <p:pic>
          <p:nvPicPr>
            <p:cNvPr id="16" name="Picture 15" descr="HD-PanelTitleR1.png"/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0"/>
              <a:ext cx="12188825" cy="6856214"/>
            </a:xfrm>
            <a:prstGeom prst="rect">
              <a:avLst/>
            </a:prstGeom>
          </p:spPr>
        </p:pic>
        <p:sp>
          <p:nvSpPr>
            <p:cNvPr id="26" name="Rectangle 25"/>
            <p:cNvSpPr/>
            <p:nvPr/>
          </p:nvSpPr>
          <p:spPr>
            <a:xfrm>
              <a:off x="2328332" y="1540931"/>
              <a:ext cx="7543802" cy="3835401"/>
            </a:xfrm>
            <a:prstGeom prst="rect">
              <a:avLst/>
            </a:prstGeom>
            <a:noFill/>
            <a:ln w="15875">
              <a:miter lim="800000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pic>
          <p:nvPicPr>
            <p:cNvPr id="17" name="Picture 16" descr="HDRibbonTitle-UniformTrim.png"/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-16934" y="3147609"/>
              <a:ext cx="2478024" cy="612648"/>
            </a:xfrm>
            <a:prstGeom prst="rect">
              <a:avLst/>
            </a:prstGeom>
          </p:spPr>
        </p:pic>
        <p:pic>
          <p:nvPicPr>
            <p:cNvPr id="20" name="Picture 19" descr="HDRibbonTitle-UniformTrim.png"/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9736202" y="3147609"/>
              <a:ext cx="2478024" cy="612648"/>
            </a:xfrm>
            <a:prstGeom prst="rect">
              <a:avLst/>
            </a:prstGeom>
          </p:spPr>
        </p:pic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692398" y="1871131"/>
            <a:ext cx="6815669" cy="1515533"/>
          </a:xfrm>
        </p:spPr>
        <p:txBody>
          <a:bodyPr anchor="b">
            <a:noAutofit/>
          </a:bodyPr>
          <a:lstStyle>
            <a:lvl1pPr algn="ctr">
              <a:defRPr sz="5400">
                <a:effectLst/>
              </a:defRPr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92398" y="3657597"/>
            <a:ext cx="6815669" cy="1320802"/>
          </a:xfrm>
        </p:spPr>
        <p:txBody>
          <a:bodyPr anchor="t">
            <a:normAutofit/>
          </a:bodyPr>
          <a:lstStyle>
            <a:lvl1pPr marL="0" indent="0" algn="ctr">
              <a:buNone/>
              <a:defRPr sz="2100"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hu-HU"/>
              <a:t>Kattintson ide az alcím mintájának szerkesztéséhez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983232" y="5037663"/>
            <a:ext cx="897467" cy="279400"/>
          </a:xfrm>
        </p:spPr>
        <p:txBody>
          <a:bodyPr/>
          <a:lstStyle/>
          <a:p>
            <a:fld id="{A872EF4C-FF12-49F2-ACE0-A2648E0A2B99}" type="datetimeFigureOut">
              <a:rPr lang="hu-HU" smtClean="0"/>
              <a:t>2026.10.08.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692397" y="5037663"/>
            <a:ext cx="5214635" cy="279400"/>
          </a:xfrm>
        </p:spPr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956900" y="5037663"/>
            <a:ext cx="551167" cy="279400"/>
          </a:xfrm>
        </p:spPr>
        <p:txBody>
          <a:bodyPr/>
          <a:lstStyle/>
          <a:p>
            <a:fld id="{FD8AACA6-BFC7-40FD-B59E-A0F97248E138}" type="slidenum">
              <a:rPr lang="hu-HU" smtClean="0"/>
              <a:t>‹#›</a:t>
            </a:fld>
            <a:endParaRPr lang="hu-HU"/>
          </a:p>
        </p:txBody>
      </p:sp>
      <p:cxnSp>
        <p:nvCxnSpPr>
          <p:cNvPr id="15" name="Straight Connector 14"/>
          <p:cNvCxnSpPr/>
          <p:nvPr/>
        </p:nvCxnSpPr>
        <p:spPr>
          <a:xfrm>
            <a:off x="2692399" y="3522131"/>
            <a:ext cx="681566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560488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Straight Connector 6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2EF4C-FF12-49F2-ACE0-A2648E0A2B99}" type="datetimeFigureOut">
              <a:rPr lang="hu-HU" smtClean="0"/>
              <a:t>2026.10.08.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AACA6-BFC7-40FD-B59E-A0F97248E13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21344970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zakaszfejlé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15069" y="1752606"/>
            <a:ext cx="8158688" cy="1822514"/>
          </a:xfrm>
        </p:spPr>
        <p:txBody>
          <a:bodyPr anchor="b">
            <a:normAutofit/>
          </a:bodyPr>
          <a:lstStyle>
            <a:lvl1pPr algn="ctr">
              <a:defRPr sz="4400" b="0" cap="none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15067" y="3846051"/>
            <a:ext cx="8158690" cy="954547"/>
          </a:xfrm>
        </p:spPr>
        <p:txBody>
          <a:bodyPr anchor="t">
            <a:normAutofit/>
          </a:bodyPr>
          <a:lstStyle>
            <a:lvl1pPr marL="0" indent="0" algn="ctr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2EF4C-FF12-49F2-ACE0-A2648E0A2B99}" type="datetimeFigureOut">
              <a:rPr lang="hu-HU" smtClean="0"/>
              <a:t>2026.10.08.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AACA6-BFC7-40FD-B59E-A0F97248E138}" type="slidenum">
              <a:rPr lang="hu-HU" smtClean="0"/>
              <a:t>‹#›</a:t>
            </a:fld>
            <a:endParaRPr lang="hu-HU"/>
          </a:p>
        </p:txBody>
      </p:sp>
      <p:cxnSp>
        <p:nvCxnSpPr>
          <p:cNvPr id="16" name="Straight Connector 15"/>
          <p:cNvCxnSpPr/>
          <p:nvPr/>
        </p:nvCxnSpPr>
        <p:spPr>
          <a:xfrm>
            <a:off x="2012723" y="3710585"/>
            <a:ext cx="8163380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543401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Straight Connector 7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98448" y="2560320"/>
            <a:ext cx="4718304" cy="3310128"/>
          </a:xfrm>
        </p:spPr>
        <p:txBody>
          <a:bodyPr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81344" y="2560320"/>
            <a:ext cx="4718304" cy="3310128"/>
          </a:xfrm>
        </p:spPr>
        <p:txBody>
          <a:bodyPr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2EF4C-FF12-49F2-ACE0-A2648E0A2B99}" type="datetimeFigureOut">
              <a:rPr lang="hu-HU" smtClean="0"/>
              <a:t>2026.10.08.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AACA6-BFC7-40FD-B59E-A0F97248E13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84722947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0" y="2658533"/>
            <a:ext cx="4718304" cy="576262"/>
          </a:xfrm>
        </p:spPr>
        <p:txBody>
          <a:bodyPr anchor="b">
            <a:noAutofit/>
          </a:bodyPr>
          <a:lstStyle>
            <a:lvl1pPr marL="0" indent="0">
              <a:spcBef>
                <a:spcPts val="672"/>
              </a:spcBef>
              <a:spcAft>
                <a:spcPts val="600"/>
              </a:spcAft>
              <a:buNone/>
              <a:defRPr sz="28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95400" y="3243262"/>
            <a:ext cx="4718304" cy="2632605"/>
          </a:xfrm>
        </p:spPr>
        <p:txBody>
          <a:bodyPr anchor="t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80670" y="2658533"/>
            <a:ext cx="4718304" cy="576262"/>
          </a:xfrm>
        </p:spPr>
        <p:txBody>
          <a:bodyPr anchor="b">
            <a:noAutofit/>
          </a:bodyPr>
          <a:lstStyle>
            <a:lvl1pPr marL="0" indent="0">
              <a:spcBef>
                <a:spcPts val="672"/>
              </a:spcBef>
              <a:spcAft>
                <a:spcPts val="600"/>
              </a:spcAft>
              <a:buNone/>
              <a:defRPr sz="28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80670" y="3243262"/>
            <a:ext cx="4718304" cy="2632605"/>
          </a:xfrm>
        </p:spPr>
        <p:txBody>
          <a:bodyPr anchor="t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2EF4C-FF12-49F2-ACE0-A2648E0A2B99}" type="datetimeFigureOut">
              <a:rPr lang="hu-HU" smtClean="0"/>
              <a:t>2026.10.08.</a:t>
            </a:fld>
            <a:endParaRPr lang="hu-H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AACA6-BFC7-40FD-B59E-A0F97248E138}" type="slidenum">
              <a:rPr lang="hu-HU" smtClean="0"/>
              <a:t>‹#›</a:t>
            </a:fld>
            <a:endParaRPr lang="hu-HU"/>
          </a:p>
        </p:txBody>
      </p:sp>
      <p:cxnSp>
        <p:nvCxnSpPr>
          <p:cNvPr id="18" name="Straight Connector 17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3989411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2EF4C-FF12-49F2-ACE0-A2648E0A2B99}" type="datetimeFigureOut">
              <a:rPr lang="hu-HU" smtClean="0"/>
              <a:t>2026.10.08.</a:t>
            </a:fld>
            <a:endParaRPr lang="hu-H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AACA6-BFC7-40FD-B59E-A0F97248E138}" type="slidenum">
              <a:rPr lang="hu-HU" smtClean="0"/>
              <a:t>‹#›</a:t>
            </a:fld>
            <a:endParaRPr lang="hu-HU"/>
          </a:p>
        </p:txBody>
      </p:sp>
      <p:cxnSp>
        <p:nvCxnSpPr>
          <p:cNvPr id="14" name="Straight Connector 13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6655954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2EF4C-FF12-49F2-ACE0-A2648E0A2B99}" type="datetimeFigureOut">
              <a:rPr lang="hu-HU" smtClean="0"/>
              <a:t>2026.10.08.</a:t>
            </a:fld>
            <a:endParaRPr lang="hu-H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AACA6-BFC7-40FD-B59E-A0F97248E13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8823019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3811" y="1388534"/>
            <a:ext cx="3718455" cy="1371600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18668" y="982131"/>
            <a:ext cx="5469466" cy="4893735"/>
          </a:xfrm>
        </p:spPr>
        <p:txBody>
          <a:bodyPr anchor="ctr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93811" y="3031065"/>
            <a:ext cx="3718455" cy="2438404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2EF4C-FF12-49F2-ACE0-A2648E0A2B99}" type="datetimeFigureOut">
              <a:rPr lang="hu-HU" smtClean="0"/>
              <a:t>2026.10.08.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AACA6-BFC7-40FD-B59E-A0F97248E138}" type="slidenum">
              <a:rPr lang="hu-HU" smtClean="0"/>
              <a:t>‹#›</a:t>
            </a:fld>
            <a:endParaRPr lang="hu-HU"/>
          </a:p>
        </p:txBody>
      </p:sp>
      <p:cxnSp>
        <p:nvCxnSpPr>
          <p:cNvPr id="16" name="Straight Connector 15"/>
          <p:cNvCxnSpPr/>
          <p:nvPr/>
        </p:nvCxnSpPr>
        <p:spPr>
          <a:xfrm>
            <a:off x="1396169" y="2912533"/>
            <a:ext cx="35144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3923312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399" y="1883832"/>
            <a:ext cx="6241816" cy="1371600"/>
          </a:xfrm>
        </p:spPr>
        <p:txBody>
          <a:bodyPr anchor="b">
            <a:normAutofit/>
          </a:bodyPr>
          <a:lstStyle>
            <a:lvl1pPr algn="ctr">
              <a:defRPr sz="2800" b="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17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094831" y="1041400"/>
            <a:ext cx="3063347" cy="4775200"/>
          </a:xfrm>
          <a:prstGeom prst="roundRect">
            <a:avLst>
              <a:gd name="adj" fmla="val 0"/>
            </a:avLst>
          </a:prstGeom>
          <a:ln w="57150" cmpd="thickThin">
            <a:solidFill>
              <a:schemeClr val="tx1">
                <a:lumMod val="50000"/>
                <a:lumOff val="50000"/>
              </a:schemeClr>
            </a:solidFill>
            <a:miter lim="800000"/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hu-HU"/>
              <a:t>Kép beszúrásához kattintson az ikonra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95399" y="3255432"/>
            <a:ext cx="6241816" cy="1828800"/>
          </a:xfrm>
        </p:spPr>
        <p:txBody>
          <a:bodyPr anchor="t">
            <a:normAutofit/>
          </a:bodyPr>
          <a:lstStyle>
            <a:lvl1pPr marL="0" indent="0" algn="ctr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2EF4C-FF12-49F2-ACE0-A2648E0A2B99}" type="datetimeFigureOut">
              <a:rPr lang="hu-HU" smtClean="0"/>
              <a:t>2026.10.08.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AACA6-BFC7-40FD-B59E-A0F97248E13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9887943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áma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1" y="4815415"/>
            <a:ext cx="9609666" cy="566738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041427" y="1041399"/>
            <a:ext cx="10105972" cy="3335869"/>
          </a:xfrm>
          <a:prstGeom prst="roundRect">
            <a:avLst>
              <a:gd name="adj" fmla="val 0"/>
            </a:avLst>
          </a:prstGeom>
          <a:ln w="57150" cmpd="thickThin">
            <a:solidFill>
              <a:schemeClr val="tx1">
                <a:lumMod val="50000"/>
                <a:lumOff val="50000"/>
              </a:schemeClr>
            </a:solidFill>
            <a:miter lim="800000"/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hu-HU"/>
              <a:t>Kép beszúrásához kattintson az ikonra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95401" y="5382153"/>
            <a:ext cx="9609666" cy="493712"/>
          </a:xfrm>
        </p:spPr>
        <p:txBody>
          <a:bodyPr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2EF4C-FF12-49F2-ACE0-A2648E0A2B99}" type="datetimeFigureOut">
              <a:rPr lang="hu-HU" smtClean="0"/>
              <a:t>2026.10.08.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AACA6-BFC7-40FD-B59E-A0F97248E13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02068836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ím és képaláír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03868" y="982132"/>
            <a:ext cx="9592732" cy="2954868"/>
          </a:xfrm>
        </p:spPr>
        <p:txBody>
          <a:bodyPr anchor="ctr">
            <a:normAutofit/>
          </a:bodyPr>
          <a:lstStyle>
            <a:lvl1pPr algn="ctr">
              <a:defRPr sz="3200" b="0" cap="none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03868" y="4343399"/>
            <a:ext cx="9592732" cy="1532467"/>
          </a:xfrm>
        </p:spPr>
        <p:txBody>
          <a:bodyPr anchor="ctr">
            <a:norm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2EF4C-FF12-49F2-ACE0-A2648E0A2B99}" type="datetimeFigureOut">
              <a:rPr lang="hu-HU" smtClean="0"/>
              <a:t>2026.10.08.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AACA6-BFC7-40FD-B59E-A0F97248E138}" type="slidenum">
              <a:rPr lang="hu-HU" smtClean="0"/>
              <a:t>‹#›</a:t>
            </a:fld>
            <a:endParaRPr lang="hu-HU"/>
          </a:p>
        </p:txBody>
      </p:sp>
      <p:cxnSp>
        <p:nvCxnSpPr>
          <p:cNvPr id="15" name="Straight Connector 14"/>
          <p:cNvCxnSpPr/>
          <p:nvPr/>
        </p:nvCxnSpPr>
        <p:spPr>
          <a:xfrm>
            <a:off x="1396169" y="4140199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7322145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dézet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982132"/>
            <a:ext cx="9296398" cy="2370668"/>
          </a:xfrm>
        </p:spPr>
        <p:txBody>
          <a:bodyPr anchor="ctr">
            <a:normAutofit/>
          </a:bodyPr>
          <a:lstStyle>
            <a:lvl1pPr algn="ctr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674812" y="3352800"/>
            <a:ext cx="8839202" cy="584200"/>
          </a:xfrm>
        </p:spPr>
        <p:txBody>
          <a:bodyPr anchor="ctr">
            <a:normAutofit/>
          </a:bodyPr>
          <a:lstStyle>
            <a:lvl1pPr marL="0" indent="0" algn="r">
              <a:buFontTx/>
              <a:buNone/>
              <a:defRPr sz="2000"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4343399"/>
            <a:ext cx="9609666" cy="1532467"/>
          </a:xfrm>
        </p:spPr>
        <p:txBody>
          <a:bodyPr anchor="ctr">
            <a:norm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2EF4C-FF12-49F2-ACE0-A2648E0A2B99}" type="datetimeFigureOut">
              <a:rPr lang="hu-HU" smtClean="0"/>
              <a:t>2026.10.08.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AACA6-BFC7-40FD-B59E-A0F97248E138}" type="slidenum">
              <a:rPr lang="hu-HU" smtClean="0"/>
              <a:t>‹#›</a:t>
            </a:fld>
            <a:endParaRPr lang="hu-HU"/>
          </a:p>
        </p:txBody>
      </p:sp>
      <p:sp>
        <p:nvSpPr>
          <p:cNvPr id="14" name="TextBox 13"/>
          <p:cNvSpPr txBox="1"/>
          <p:nvPr/>
        </p:nvSpPr>
        <p:spPr>
          <a:xfrm>
            <a:off x="862013" y="87996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267" y="282787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1396169" y="4140199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306064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évkárty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2" y="3308581"/>
            <a:ext cx="9609668" cy="1468800"/>
          </a:xfrm>
        </p:spPr>
        <p:txBody>
          <a:bodyPr anchor="b">
            <a:normAutofit/>
          </a:bodyPr>
          <a:lstStyle>
            <a:lvl1pPr algn="l">
              <a:defRPr sz="3200" b="0" cap="none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4777381"/>
            <a:ext cx="9609668" cy="86040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2EF4C-FF12-49F2-ACE0-A2648E0A2B99}" type="datetimeFigureOut">
              <a:rPr lang="hu-HU" smtClean="0"/>
              <a:t>2026.10.08.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AACA6-BFC7-40FD-B59E-A0F97248E13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47263419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évkártya idézet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982132"/>
            <a:ext cx="9296398" cy="2243668"/>
          </a:xfrm>
        </p:spPr>
        <p:txBody>
          <a:bodyPr anchor="ctr">
            <a:normAutofit/>
          </a:bodyPr>
          <a:lstStyle>
            <a:lvl1pPr algn="ctr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23" name="Text Placeholder 2"/>
          <p:cNvSpPr>
            <a:spLocks noGrp="1"/>
          </p:cNvSpPr>
          <p:nvPr>
            <p:ph type="body" idx="13"/>
          </p:nvPr>
        </p:nvSpPr>
        <p:spPr>
          <a:xfrm>
            <a:off x="1295401" y="3639312"/>
            <a:ext cx="9609668" cy="886968"/>
          </a:xfrm>
        </p:spPr>
        <p:txBody>
          <a:bodyPr anchor="b">
            <a:normAutofit/>
          </a:bodyPr>
          <a:lstStyle>
            <a:lvl1pPr marL="0" indent="0" algn="l">
              <a:spcBef>
                <a:spcPts val="0"/>
              </a:spcBef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4529667"/>
            <a:ext cx="9609668" cy="13462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2EF4C-FF12-49F2-ACE0-A2648E0A2B99}" type="datetimeFigureOut">
              <a:rPr lang="hu-HU" smtClean="0"/>
              <a:t>2026.10.08.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AACA6-BFC7-40FD-B59E-A0F97248E138}" type="slidenum">
              <a:rPr lang="hu-HU" smtClean="0"/>
              <a:t>‹#›</a:t>
            </a:fld>
            <a:endParaRPr lang="hu-HU"/>
          </a:p>
        </p:txBody>
      </p:sp>
      <p:sp>
        <p:nvSpPr>
          <p:cNvPr id="12" name="TextBox 11"/>
          <p:cNvSpPr txBox="1"/>
          <p:nvPr/>
        </p:nvSpPr>
        <p:spPr>
          <a:xfrm>
            <a:off x="862013" y="87996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267" y="259926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cxnSp>
        <p:nvCxnSpPr>
          <p:cNvPr id="26" name="Straight Connector 25"/>
          <p:cNvCxnSpPr/>
          <p:nvPr/>
        </p:nvCxnSpPr>
        <p:spPr>
          <a:xfrm>
            <a:off x="1396169" y="3429000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648424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gaz vagy ham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1" y="982132"/>
            <a:ext cx="9609666" cy="2243668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20" name="Text Placeholder 2"/>
          <p:cNvSpPr>
            <a:spLocks noGrp="1"/>
          </p:cNvSpPr>
          <p:nvPr>
            <p:ph type="body" idx="13"/>
          </p:nvPr>
        </p:nvSpPr>
        <p:spPr>
          <a:xfrm>
            <a:off x="1295401" y="3630168"/>
            <a:ext cx="9609668" cy="841248"/>
          </a:xfrm>
        </p:spPr>
        <p:txBody>
          <a:bodyPr anchor="b">
            <a:normAutofit/>
          </a:bodyPr>
          <a:lstStyle>
            <a:lvl1pPr marL="0" indent="0" algn="l">
              <a:spcBef>
                <a:spcPts val="0"/>
              </a:spcBef>
              <a:buNone/>
              <a:defRPr sz="2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0" y="4470399"/>
            <a:ext cx="9609670" cy="1405467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2EF4C-FF12-49F2-ACE0-A2648E0A2B99}" type="datetimeFigureOut">
              <a:rPr lang="hu-HU" smtClean="0"/>
              <a:t>2026.10.08.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AACA6-BFC7-40FD-B59E-A0F97248E138}" type="slidenum">
              <a:rPr lang="hu-HU" smtClean="0"/>
              <a:t>‹#›</a:t>
            </a:fld>
            <a:endParaRPr lang="hu-HU"/>
          </a:p>
        </p:txBody>
      </p:sp>
      <p:cxnSp>
        <p:nvCxnSpPr>
          <p:cNvPr id="15" name="Straight Connector 14"/>
          <p:cNvCxnSpPr/>
          <p:nvPr/>
        </p:nvCxnSpPr>
        <p:spPr>
          <a:xfrm>
            <a:off x="1396169" y="3429000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8300457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ctr">
              <a:defRPr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2EF4C-FF12-49F2-ACE0-A2648E0A2B99}" type="datetimeFigureOut">
              <a:rPr lang="hu-HU" smtClean="0"/>
              <a:t>2026.10.08.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AACA6-BFC7-40FD-B59E-A0F97248E138}" type="slidenum">
              <a:rPr lang="hu-HU" smtClean="0"/>
              <a:t>‹#›</a:t>
            </a:fld>
            <a:endParaRPr lang="hu-HU"/>
          </a:p>
        </p:txBody>
      </p:sp>
      <p:cxnSp>
        <p:nvCxnSpPr>
          <p:cNvPr id="14" name="Straight Connector 13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1162390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999356" y="982131"/>
            <a:ext cx="1890895" cy="4893735"/>
          </a:xfrm>
        </p:spPr>
        <p:txBody>
          <a:bodyPr vert="eaVert"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295398" y="982132"/>
            <a:ext cx="7433025" cy="4893734"/>
          </a:xfrm>
        </p:spPr>
        <p:txBody>
          <a:bodyPr vert="eaVert" anchor="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2EF4C-FF12-49F2-ACE0-A2648E0A2B99}" type="datetimeFigureOut">
              <a:rPr lang="hu-HU" smtClean="0"/>
              <a:t>2026.10.08.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AACA6-BFC7-40FD-B59E-A0F97248E138}" type="slidenum">
              <a:rPr lang="hu-HU" smtClean="0"/>
              <a:t>‹#›</a:t>
            </a:fld>
            <a:endParaRPr lang="hu-HU"/>
          </a:p>
        </p:txBody>
      </p:sp>
      <p:cxnSp>
        <p:nvCxnSpPr>
          <p:cNvPr id="14" name="Straight Connector 13"/>
          <p:cNvCxnSpPr/>
          <p:nvPr/>
        </p:nvCxnSpPr>
        <p:spPr>
          <a:xfrm>
            <a:off x="8863890" y="990600"/>
            <a:ext cx="0" cy="487680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807721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4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3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-15736" y="0"/>
            <a:ext cx="12229962" cy="6856214"/>
            <a:chOff x="-15736" y="0"/>
            <a:chExt cx="12229962" cy="6856214"/>
          </a:xfrm>
        </p:grpSpPr>
        <p:pic>
          <p:nvPicPr>
            <p:cNvPr id="8" name="Picture 7" descr="HD-PanelContent.png"/>
            <p:cNvPicPr>
              <a:picLocks noChangeAspect="1"/>
            </p:cNvPicPr>
            <p:nvPr/>
          </p:nvPicPr>
          <p:blipFill>
            <a:blip r:embed="rId1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0"/>
              <a:ext cx="12188825" cy="6856214"/>
            </a:xfrm>
            <a:prstGeom prst="rect">
              <a:avLst/>
            </a:prstGeom>
          </p:spPr>
        </p:pic>
        <p:sp>
          <p:nvSpPr>
            <p:cNvPr id="9" name="Rectangle 8"/>
            <p:cNvSpPr/>
            <p:nvPr/>
          </p:nvSpPr>
          <p:spPr>
            <a:xfrm>
              <a:off x="608012" y="609600"/>
              <a:ext cx="10972800" cy="5638800"/>
            </a:xfrm>
            <a:prstGeom prst="rect">
              <a:avLst/>
            </a:prstGeom>
            <a:noFill/>
            <a:ln w="15875" cap="flat">
              <a:miter lim="800000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pic>
          <p:nvPicPr>
            <p:cNvPr id="10" name="Picture 9" descr="HDRibbonContent-UniformTrim.png"/>
            <p:cNvPicPr>
              <a:picLocks noChangeAspect="1"/>
            </p:cNvPicPr>
            <p:nvPr/>
          </p:nvPicPr>
          <p:blipFill rotWithShape="1"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-15736" y="3153832"/>
              <a:ext cx="777240" cy="606425"/>
            </a:xfrm>
            <a:prstGeom prst="rect">
              <a:avLst/>
            </a:prstGeom>
          </p:spPr>
        </p:pic>
        <p:pic>
          <p:nvPicPr>
            <p:cNvPr id="11" name="Picture 10" descr="HDRibbonContent-UniformTrim.png"/>
            <p:cNvPicPr>
              <a:picLocks noChangeAspect="1"/>
            </p:cNvPicPr>
            <p:nvPr/>
          </p:nvPicPr>
          <p:blipFill rotWithShape="1"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11436986" y="3153832"/>
              <a:ext cx="777240" cy="606425"/>
            </a:xfrm>
            <a:prstGeom prst="rect">
              <a:avLst/>
            </a:prstGeom>
          </p:spPr>
        </p:pic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95402" y="982132"/>
            <a:ext cx="9601196" cy="1303867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2556932"/>
            <a:ext cx="9601196" cy="331893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677501" y="5969000"/>
            <a:ext cx="1600200" cy="279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A872EF4C-FF12-49F2-ACE0-A2648E0A2B99}" type="datetimeFigureOut">
              <a:rPr lang="hu-HU" smtClean="0"/>
              <a:t>2026.10.08.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295401" y="5969000"/>
            <a:ext cx="7305900" cy="279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353901" y="5969000"/>
            <a:ext cx="542697" cy="279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FD8AACA6-BFC7-40FD-B59E-A0F97248E13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6024763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 cap="none">
          <a:ln w="3175" cmpd="sng">
            <a:noFill/>
          </a:ln>
          <a:solidFill>
            <a:schemeClr val="tx1">
              <a:lumMod val="85000"/>
              <a:lumOff val="15000"/>
            </a:schemeClr>
          </a:solidFill>
          <a:effectLst/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2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20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8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6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27B2855C-3CF6-4EF6-A67A-5CC6787FB19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683933" y="1838629"/>
            <a:ext cx="6815669" cy="1515533"/>
          </a:xfrm>
        </p:spPr>
        <p:txBody>
          <a:bodyPr>
            <a:noAutofit/>
          </a:bodyPr>
          <a:lstStyle/>
          <a:p>
            <a:r>
              <a:rPr lang="hu-HU" sz="3200" b="1" dirty="0"/>
              <a:t>Programozási környezetben a változók használatának bemutatása, és hol fordulnak elő?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83278A07-AC78-4711-8DD1-CF3897565A9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474208" y="3640819"/>
            <a:ext cx="6815669" cy="1320802"/>
          </a:xfrm>
        </p:spPr>
        <p:txBody>
          <a:bodyPr>
            <a:normAutofit/>
          </a:bodyPr>
          <a:lstStyle/>
          <a:p>
            <a:r>
              <a:rPr lang="hu-HU" sz="2000" b="1" dirty="0"/>
              <a:t>Készítette: Czeglédi </a:t>
            </a:r>
            <a:r>
              <a:rPr lang="hu-HU" sz="2000" b="1" dirty="0" err="1"/>
              <a:t>Tung</a:t>
            </a:r>
            <a:r>
              <a:rPr lang="hu-HU" sz="2000" b="1" dirty="0"/>
              <a:t> </a:t>
            </a:r>
            <a:r>
              <a:rPr lang="hu-HU" sz="2000" b="1" dirty="0" err="1"/>
              <a:t>Tung</a:t>
            </a:r>
            <a:r>
              <a:rPr lang="hu-HU" sz="2000" b="1" dirty="0"/>
              <a:t> </a:t>
            </a:r>
            <a:r>
              <a:rPr lang="hu-HU" sz="2000" b="1" dirty="0" err="1"/>
              <a:t>Tung</a:t>
            </a:r>
            <a:r>
              <a:rPr lang="hu-HU" sz="2000" b="1" dirty="0"/>
              <a:t> Rokkó </a:t>
            </a:r>
            <a:r>
              <a:rPr lang="hu-HU" sz="2000" b="1" dirty="0" err="1"/>
              <a:t>Sahur</a:t>
            </a:r>
            <a:r>
              <a:rPr lang="hu-HU" sz="2000" b="1" dirty="0"/>
              <a:t>,</a:t>
            </a:r>
            <a:br>
              <a:rPr lang="hu-HU" sz="2000" b="1" dirty="0"/>
            </a:br>
            <a:r>
              <a:rPr lang="hu-HU" sz="2000" b="1" dirty="0"/>
              <a:t>Megyeri </a:t>
            </a:r>
            <a:r>
              <a:rPr lang="hu-HU" sz="2000" b="1" dirty="0" err="1"/>
              <a:t>Dikárd</a:t>
            </a:r>
            <a:r>
              <a:rPr lang="hu-HU" sz="2000" b="1" dirty="0"/>
              <a:t> </a:t>
            </a:r>
            <a:r>
              <a:rPr lang="hu-HU" sz="2000" b="1" dirty="0" err="1"/>
              <a:t>Rikárd</a:t>
            </a:r>
            <a:r>
              <a:rPr lang="hu-HU" sz="2000" b="1" dirty="0"/>
              <a:t> Richárd,</a:t>
            </a:r>
            <a:br>
              <a:rPr lang="hu-HU" sz="2000" b="1" dirty="0"/>
            </a:br>
            <a:r>
              <a:rPr lang="hu-HU" sz="2000" b="1" dirty="0"/>
              <a:t>Lassuló </a:t>
            </a:r>
            <a:r>
              <a:rPr lang="hu-HU" sz="2000" b="1" dirty="0" err="1"/>
              <a:t>Shabbat</a:t>
            </a:r>
            <a:r>
              <a:rPr lang="hu-HU" sz="2000" b="1" dirty="0"/>
              <a:t> </a:t>
            </a:r>
            <a:r>
              <a:rPr lang="hu-HU" sz="2000" b="1" dirty="0" err="1"/>
              <a:t>Shalom</a:t>
            </a:r>
            <a:r>
              <a:rPr lang="hu-HU" sz="2000" b="1" dirty="0"/>
              <a:t> </a:t>
            </a:r>
            <a:r>
              <a:rPr lang="hu-HU" sz="2000" b="1" dirty="0" err="1"/>
              <a:t>Benjámince</a:t>
            </a:r>
            <a:endParaRPr lang="hu-HU" sz="2000" b="1" dirty="0"/>
          </a:p>
        </p:txBody>
      </p:sp>
    </p:spTree>
    <p:extLst>
      <p:ext uri="{BB962C8B-B14F-4D97-AF65-F5344CB8AC3E}">
        <p14:creationId xmlns:p14="http://schemas.microsoft.com/office/powerpoint/2010/main" val="175863202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969DF5E6-49F0-4F6F-8DAB-43275C965C9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hu-HU" sz="4000" b="1" dirty="0"/>
              <a:t>Változó és Konstans között a különbség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B10D62CF-E08F-43A4-AC1E-BEB099B1F4F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92398" y="3657597"/>
            <a:ext cx="7005275" cy="1515532"/>
          </a:xfrm>
        </p:spPr>
        <p:txBody>
          <a:bodyPr>
            <a:noAutofit/>
          </a:bodyPr>
          <a:lstStyle/>
          <a:p>
            <a:r>
              <a:rPr lang="hu-HU" sz="2400" b="1" u="none" strike="noStrike" dirty="0">
                <a:effectLst/>
                <a:latin typeface="+mj-lt"/>
              </a:rPr>
              <a:t>Változó:</a:t>
            </a:r>
            <a:r>
              <a:rPr lang="hu-HU" sz="2400" b="1" dirty="0">
                <a:latin typeface="+mj-lt"/>
              </a:rPr>
              <a:t> Olyan memóriatár, aminek az értéke a program futása során bármikor módosítható.</a:t>
            </a:r>
          </a:p>
          <a:p>
            <a:r>
              <a:rPr lang="hu-HU" sz="2400" b="1" u="none" strike="noStrike" dirty="0">
                <a:effectLst/>
                <a:latin typeface="+mj-lt"/>
              </a:rPr>
              <a:t>Konstans:</a:t>
            </a:r>
            <a:r>
              <a:rPr lang="hu-HU" sz="2400" b="1" dirty="0">
                <a:latin typeface="+mj-lt"/>
              </a:rPr>
              <a:t> Egyszer kap értéket, utána módosíthatatlan, fix marad.</a:t>
            </a:r>
          </a:p>
        </p:txBody>
      </p:sp>
    </p:spTree>
    <p:extLst>
      <p:ext uri="{BB962C8B-B14F-4D97-AF65-F5344CB8AC3E}">
        <p14:creationId xmlns:p14="http://schemas.microsoft.com/office/powerpoint/2010/main" val="144449645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BC9D2F4-5FC5-48A9-8E55-3C4C276F410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hu-HU" sz="4000" b="1" dirty="0"/>
              <a:t>Rugalmas és nem rugalmas nyelvek</a:t>
            </a:r>
          </a:p>
        </p:txBody>
      </p:sp>
      <p:sp>
        <p:nvSpPr>
          <p:cNvPr id="5" name="Alcím 4">
            <a:extLst>
              <a:ext uri="{FF2B5EF4-FFF2-40B4-BE49-F238E27FC236}">
                <a16:creationId xmlns:a16="http://schemas.microsoft.com/office/drawing/2014/main" id="{A50A6F5D-C796-4406-BD72-B799BFCF1FE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hu-HU" sz="1500" b="1" u="none" strike="noStrike" dirty="0">
                <a:effectLst/>
                <a:latin typeface="+mj-lt"/>
              </a:rPr>
              <a:t>-Rugalmas nyelv: A változó egy üres zacskó. Bármit belerakhatsz egymás után: először egy számot, aztán egy szöveget. A gép menet közben alkalmazkodik. (pl. JavaScript)</a:t>
            </a:r>
          </a:p>
          <a:p>
            <a:r>
              <a:rPr lang="hu-HU" sz="1500" b="1" u="none" strike="noStrike" dirty="0">
                <a:effectLst/>
                <a:latin typeface="+mj-lt"/>
              </a:rPr>
              <a:t>-Nem rugalmas nyelv:</a:t>
            </a:r>
            <a:r>
              <a:rPr lang="hu-HU" sz="1500" b="1" dirty="0">
                <a:latin typeface="+mj-lt"/>
              </a:rPr>
              <a:t> A változó egy </a:t>
            </a:r>
            <a:r>
              <a:rPr lang="hu-HU" sz="1500" b="1" u="none" strike="noStrike" dirty="0">
                <a:effectLst/>
                <a:latin typeface="+mj-lt"/>
              </a:rPr>
              <a:t>fix műanyag doboz</a:t>
            </a:r>
            <a:r>
              <a:rPr lang="hu-HU" sz="1500" b="1" dirty="0">
                <a:latin typeface="+mj-lt"/>
              </a:rPr>
              <a:t>. Ha eldöntötted, hogy szám lakik benne, később már nem tehetsz bele szöveget, mert a gép azonnal hibaüzenettel leáll. (pl. C#)</a:t>
            </a:r>
            <a:endParaRPr lang="hu-HU" sz="1500" b="1" u="none" strike="noStrike" dirty="0">
              <a:effectLst/>
              <a:latin typeface="+mj-lt"/>
            </a:endParaRPr>
          </a:p>
          <a:p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207086703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0CBDFBF6-8340-4733-AABB-78FB9F8E1DC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hu-HU" sz="4000" b="1" dirty="0"/>
              <a:t>Miért jó az egyik, és amiért a másik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0E7FBC7E-1BA2-4F8B-A921-6F4F7C6F60A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hu-HU" b="1" u="none" strike="noStrike" dirty="0">
                <a:effectLst/>
                <a:latin typeface="+mj-lt"/>
              </a:rPr>
              <a:t>Rugalmas (pl. Python):</a:t>
            </a:r>
            <a:r>
              <a:rPr lang="hu-HU" b="1" dirty="0">
                <a:latin typeface="+mj-lt"/>
              </a:rPr>
              <a:t> Gyorsabb vele a munka, mert nem kell a típusokon agyalni, viszont könnyebb láthatatlan hibákat hagyni a kódban.</a:t>
            </a:r>
          </a:p>
          <a:p>
            <a:r>
              <a:rPr lang="hu-HU" b="1" u="none" strike="noStrike" dirty="0">
                <a:effectLst/>
                <a:latin typeface="+mj-lt"/>
              </a:rPr>
              <a:t>Nem rugalmas (pl. C#):</a:t>
            </a:r>
            <a:r>
              <a:rPr lang="hu-HU" b="1" dirty="0">
                <a:latin typeface="+mj-lt"/>
              </a:rPr>
              <a:t> Több kódolást igényel, de a gép azonnal rácsap a kezedre, ha hülyeséget csinálsz, így szinte nincs rejtett hib</a:t>
            </a:r>
            <a:r>
              <a:rPr lang="hu-HU" dirty="0">
                <a:latin typeface="+mj-lt"/>
              </a:rPr>
              <a:t>a.</a:t>
            </a:r>
            <a:br>
              <a:rPr lang="hu-HU" dirty="0">
                <a:latin typeface="+mj-lt"/>
              </a:rPr>
            </a:br>
            <a:endParaRPr lang="hu-HU" dirty="0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350479997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A6502AA7-FB45-412C-B8F2-67F30469B4C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hu-HU" sz="4000" b="1" dirty="0"/>
              <a:t>Hogyan néz ki ez a gyakorlatban?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06E364E7-E178-4DBF-9AE6-889361549F7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64859697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E6962AA-0721-434D-9F10-489855FC485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hu-HU" sz="4000" b="1" dirty="0"/>
              <a:t>Összegzés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5CEE03A6-7515-4C8C-9104-277DDFF3E59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Autofit/>
          </a:bodyPr>
          <a:lstStyle/>
          <a:p>
            <a:endParaRPr lang="hu-HU" sz="5000" dirty="0"/>
          </a:p>
        </p:txBody>
      </p:sp>
    </p:spTree>
    <p:extLst>
      <p:ext uri="{BB962C8B-B14F-4D97-AF65-F5344CB8AC3E}">
        <p14:creationId xmlns:p14="http://schemas.microsoft.com/office/powerpoint/2010/main" val="2922484389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Organikus">
  <a:themeElements>
    <a:clrScheme name="Organikus">
      <a:dk1>
        <a:sysClr val="windowText" lastClr="000000"/>
      </a:dk1>
      <a:lt1>
        <a:sysClr val="window" lastClr="FFFFFF"/>
      </a:lt1>
      <a:dk2>
        <a:srgbClr val="212121"/>
      </a:dk2>
      <a:lt2>
        <a:srgbClr val="DADADA"/>
      </a:lt2>
      <a:accent1>
        <a:srgbClr val="83992A"/>
      </a:accent1>
      <a:accent2>
        <a:srgbClr val="3C9770"/>
      </a:accent2>
      <a:accent3>
        <a:srgbClr val="44709D"/>
      </a:accent3>
      <a:accent4>
        <a:srgbClr val="A23C33"/>
      </a:accent4>
      <a:accent5>
        <a:srgbClr val="D97828"/>
      </a:accent5>
      <a:accent6>
        <a:srgbClr val="DEB340"/>
      </a:accent6>
      <a:hlink>
        <a:srgbClr val="A8BF4D"/>
      </a:hlink>
      <a:folHlink>
        <a:srgbClr val="B4CA80"/>
      </a:folHlink>
    </a:clrScheme>
    <a:fontScheme name="Organikus">
      <a:majorFont>
        <a:latin typeface="Garamond" panose="02020404030301010803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Garamond" panose="02020404030301010803"/>
        <a:ea typeface=""/>
        <a:cs typeface=""/>
        <a:font script="Jpan" typeface="ＭＳ Ｐ明朝"/>
        <a:font script="Hang" typeface="바탕"/>
        <a:font script="Hans" typeface="方正舒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inorFont>
    </a:fontScheme>
    <a:fmtScheme name="Organikus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2000"/>
              </a:schemeClr>
            </a:gs>
          </a:gsLst>
          <a:lin ang="5400000" scaled="0"/>
        </a:gradFill>
        <a:blipFill>
          <a:blip xmlns:r="http://schemas.openxmlformats.org/officeDocument/2006/relationships" r:embed="rId1">
            <a:duotone>
              <a:schemeClr val="phClr">
                <a:shade val="74000"/>
                <a:satMod val="130000"/>
                <a:lumMod val="90000"/>
              </a:schemeClr>
              <a:schemeClr val="phClr">
                <a:tint val="94000"/>
                <a:satMod val="120000"/>
                <a:lumMod val="104000"/>
              </a:schemeClr>
            </a:duotone>
          </a:blip>
          <a:tile tx="0" ty="0" sx="100000" sy="100000" flip="none" algn="tl"/>
        </a:blip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innerShdw blurRad="25400" dist="12700" dir="13500000">
              <a:srgbClr val="000000">
                <a:alpha val="45000"/>
              </a:srgbClr>
            </a:innerShdw>
          </a:effectLst>
        </a:effectStyle>
        <a:effectStyle>
          <a:effectLst>
            <a:outerShdw blurRad="38100" dist="25400" dir="5400000" rotWithShape="0">
              <a:srgbClr val="000000">
                <a:alpha val="6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88000"/>
                <a:lumMod val="98000"/>
              </a:schemeClr>
            </a:gs>
          </a:gsLst>
          <a:lin ang="5400000" scaled="0"/>
        </a:gradFill>
        <a:blipFill>
          <a:blip xmlns:r="http://schemas.openxmlformats.org/officeDocument/2006/relationships" r:embed="rId2"/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rganic" id="{28CDC826-8792-45C0-861B-85EB3ADEDA33}" vid="{7DAC20F1-423D-49E2-BD0B-50532748BAD0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Organic</Template>
  <TotalTime>46</TotalTime>
  <Words>216</Words>
  <Application>Microsoft Office PowerPoint</Application>
  <PresentationFormat>Szélesvásznú</PresentationFormat>
  <Paragraphs>13</Paragraphs>
  <Slides>6</Slides>
  <Notes>0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2</vt:i4>
      </vt:variant>
      <vt:variant>
        <vt:lpstr>Téma</vt:lpstr>
      </vt:variant>
      <vt:variant>
        <vt:i4>1</vt:i4>
      </vt:variant>
      <vt:variant>
        <vt:lpstr>Diacímek</vt:lpstr>
      </vt:variant>
      <vt:variant>
        <vt:i4>6</vt:i4>
      </vt:variant>
    </vt:vector>
  </HeadingPairs>
  <TitlesOfParts>
    <vt:vector size="9" baseType="lpstr">
      <vt:lpstr>Arial</vt:lpstr>
      <vt:lpstr>Garamond</vt:lpstr>
      <vt:lpstr>Organikus</vt:lpstr>
      <vt:lpstr>Programozási környezetben a változók használatának bemutatása, és hol fordulnak elő?</vt:lpstr>
      <vt:lpstr>Változó és Konstans között a különbség</vt:lpstr>
      <vt:lpstr>Rugalmas és nem rugalmas nyelvek</vt:lpstr>
      <vt:lpstr>Miért jó az egyik, és amiért a másik</vt:lpstr>
      <vt:lpstr>Hogyan néz ki ez a gyakorlatban?</vt:lpstr>
      <vt:lpstr>Összegzés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Téma: programozási környezetben a változók használatának bemutatása. hol fordul elő? php, javascript python c# stb amiket tanultunk, konstans talalók rugalmas nem rugalmas</dc:title>
  <dc:creator>Czeglédi Rokkó Lajos</dc:creator>
  <cp:lastModifiedBy>László Bence József</cp:lastModifiedBy>
  <cp:revision>8</cp:revision>
  <dcterms:created xsi:type="dcterms:W3CDTF">2026-10-05T11:53:45Z</dcterms:created>
  <dcterms:modified xsi:type="dcterms:W3CDTF">2026-10-08T09:09:57Z</dcterms:modified>
</cp:coreProperties>
</file>